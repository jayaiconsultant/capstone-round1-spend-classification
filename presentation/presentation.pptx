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Raw Materials</c:v>
                  </c:pt>
                  <c:pt idx="1">
                    <c:v>Capex Components</c:v>
                  </c:pt>
                  <c:pt idx="2">
                    <c:v>Logistics/Freight</c:v>
                  </c:pt>
                  <c:pt idx="3">
                    <c:v>Packaging</c:v>
                  </c:pt>
                  <c:pt idx="4">
                    <c:v>MRO</c:v>
                  </c:pt>
                  <c:pt idx="5">
                    <c:v>Indirect/Facilities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3407</c:v>
                </c:pt>
                <c:pt idx="1">
                  <c:v>2022.4</c:v>
                </c:pt>
                <c:pt idx="2">
                  <c:v>1275.5</c:v>
                </c:pt>
                <c:pt idx="3">
                  <c:v>286.3</c:v>
                </c:pt>
                <c:pt idx="4">
                  <c:v>243.8</c:v>
                </c:pt>
                <c:pt idx="5">
                  <c:v>191.6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Top-3 Share %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Capex Components</c:v>
                  </c:pt>
                  <c:pt idx="1">
                    <c:v>Logistics/Freight</c:v>
                  </c:pt>
                  <c:pt idx="2">
                    <c:v>Raw Materials</c:v>
                  </c:pt>
                  <c:pt idx="3">
                    <c:v>Packaging</c:v>
                  </c:pt>
                  <c:pt idx="4">
                    <c:v>Indirect/Facilities</c:v>
                  </c:pt>
                  <c:pt idx="5">
                    <c:v>MRO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83.4</c:v>
                </c:pt>
                <c:pt idx="1">
                  <c:v>76.2</c:v>
                </c:pt>
                <c:pt idx="2">
                  <c:v>73.5</c:v>
                </c:pt>
                <c:pt idx="3">
                  <c:v>68.9</c:v>
                </c:pt>
                <c:pt idx="4">
                  <c:v>48.7</c:v>
                </c:pt>
                <c:pt idx="5">
                  <c:v>40.3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 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MRO</c:v>
                  </c:pt>
                  <c:pt idx="1">
                    <c:v>Indirect/Facilities</c:v>
                  </c:pt>
                  <c:pt idx="2">
                    <c:v>Raw Materials</c:v>
                  </c:pt>
                  <c:pt idx="3">
                    <c:v>Logistics/Freight</c:v>
                  </c:pt>
                  <c:pt idx="4">
                    <c:v>Capex Components</c:v>
                  </c:pt>
                  <c:pt idx="5">
                    <c:v>Packaging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Contract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Under Contract</c:v>
                </c:pt>
                <c:pt idx="1">
                  <c:v>Off-Contract (Maverick)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0.7537</c:v>
                </c:pt>
                <c:pt idx="1">
                  <c:v>0.2463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Spend Visibility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Industrial Manufacturers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Goods Manufacturing — Large, Multi-Plant Capital Equipment Producer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Ramamoorthi  |  Round 1 Capstone Pitch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get to your company — why this matters at all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manufacturing cost structure runs through procurement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97680" y="237744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/ 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5661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industry-wide AI maturity score in procurement — only 8% past pilot stage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0" y="237744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5661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reduction where AI has actually been deployed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deployed: companies with AI-mature supply chains run 23% more profitable than peers.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Familiar Profile — And a Fixable Blind Spot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industrial equipment manufacturer. Multiple plants, multiple countries.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fragmented sourcing decisions across plants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answer “where does our money actually go” without weeks of manual pulling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 volatility and supply-chain diversification pressure make this urgent now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446520" y="15544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Category Classification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raw, messy spend into a usable category structure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TODAY'S PROOF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154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Spend Detection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5204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off-contract purchases leaking negotiated value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142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470916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8463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Variance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5212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visibility from “what we bought” to “what it cost to get here”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5833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Money Actually Goes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$7.43M in tracked spend, broken down for the first time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863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21945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0" y="24231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$7.43M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tracked spend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(12-month window)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Problems, Same Book of Spend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Concentration (Top-3 Share)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5760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55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Fragmentation (Distinct Suppliers)</a:t>
            </a:r>
            <a:endParaRPr lang="en-US" sz="15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172200" y="1645920"/>
          <a:ext cx="5623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Leakage Is Real — and Quantifiable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$925K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Capex spend is running off-contract — the single largest leakage point in the book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3383280"/>
            <a:ext cx="5577840" cy="256032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0" y="3611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$104K – $209K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4251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addressable savings, annually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4800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compliance recovery: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$92K–$183K (5–10% of off-contract spend)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consolidation: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$13K–$26K (3–6% of fragmented-category spend)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Black Box — An Audit Trail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(n8n, live)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470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messy transaction 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4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full description, not just vendor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4015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+ assigns confidence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788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→ routed to human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560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 → written to classified spend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(LangSmith, scored)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1965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8803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 accuracy — 17 of 20 transactions, scored against known-correct labels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97764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traceable: 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saw, what it concluded, and why — not a promise, an audit trail.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misses were genuinely ambiguous edge cases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silently accepted — low confidence routes to a human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A Scoped Pilot, Not a Leap of Faith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$37.5K – $56.2K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through one-plant pilot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97680" y="1417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 weeks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validated go / no-go decision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79192" y="4389120"/>
            <a:ext cx="283464" cy="274320"/>
          </a:xfrm>
          <a:prstGeom prst="rightArrow">
            <a:avLst/>
          </a:prstGeom>
          <a:solidFill>
            <a:srgbClr val="C6CB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4640" y="384048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26080" y="39776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2–5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5192" y="4389120"/>
            <a:ext cx="283464" cy="274320"/>
          </a:xfrm>
          <a:prstGeom prst="rightArrow">
            <a:avLst/>
          </a:prstGeom>
          <a:solidFill>
            <a:srgbClr val="C6CBD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384048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12080" y="39776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3–5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51192" y="4389120"/>
            <a:ext cx="283464" cy="274320"/>
          </a:xfrm>
          <a:prstGeom prst="rightArrow">
            <a:avLst/>
          </a:prstGeom>
          <a:solidFill>
            <a:srgbClr val="C6CBD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6640" y="384048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0" y="39776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Validation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6–9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37192" y="4389120"/>
            <a:ext cx="283464" cy="274320"/>
          </a:xfrm>
          <a:prstGeom prst="rightArrow">
            <a:avLst/>
          </a:prstGeom>
          <a:solidFill>
            <a:srgbClr val="C6CBD6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384048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84080" y="39776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/ Decision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scoped discovery + one-plant pilot — not a commitment to full rollout. A validated accuracy number, not a benchmark estimate, and a clear decision point at the end of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Biggest Cost Lever Is Currently Invisible.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pilot makes it visible — and puts you ahead of an industry where only 8% of procurement teams have gotten this far.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most value your feedback on: whether the use-case sequencing is right — or whether contract-leakage should lead instead of classification.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2026-08-30T21:24:07Z</dcterms:created>
  <dcterms:modified xsi:type="dcterms:W3CDTF">2026-08-30T21:24:07Z</dcterms:modified>
</cp:coreProperties>
</file>